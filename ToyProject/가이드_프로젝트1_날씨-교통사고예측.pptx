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2377440" cy="2377440"/>
          </a:xfrm>
          <a:prstGeom prst="ellipse">
            <a:avLst/>
          </a:prstGeom>
          <a:solidFill>
            <a:srgbClr val="5FD0C6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미니프로젝트 LAB-1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날씨에 따른 교통사고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발생 확률 예측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 데이터와 사망 교통사고 데이터를 결합해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모델로 위험을 예측하는 실습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활용 AI 프로그래밍  ·  실습 가이드  ·  Prepared by DaeKyeong Kim, Ph.D.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개요와 학습목표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B3C5D"/>
                </a:solidFill>
              </a:rPr>
              <a:t>무엇을 만드나요?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A42"/>
                </a:solidFill>
              </a:rPr>
              <a:t>특정 날짜·시간의 기상 조건(기온·강수량·풍속·습도·적설)을 입력하면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C7293"/>
                </a:solidFill>
              </a:rPr>
              <a:t>예상 사망자 수(위험도)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A42"/>
                </a:solidFill>
              </a:rPr>
              <a:t>를 예측하는 인공지능 시스템을 직접 개발합니다.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실습을 마치면 학습자는: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프로젝트의 6단계 파이프라인을 설명할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공공포털에서 데이터를 수집·전처리할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데이터를 시간 기준으로 병합할 수 있다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TensorFlow로 선형회귀 모델을 학습·저장·배포할 수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CFE6EE"/>
          </a:solidFill>
          <a:ln/>
          <a:effectLst>
            <a:outerShdw sx="100000" sy="100000" kx="0" ky="0" algn="bl" rotWithShape="0" blurRad="101600" dist="38100" dir="5400000">
              <a:srgbClr val="9AB4B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스펙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3524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2724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Tf38_cpu (TensorFlow 1.x 호환)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30540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라이브러리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3524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tensorflow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출처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35240" y="3895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기상자료개방포털 · 공공데이터포털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서울 · 시간 단위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4809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35240" y="50657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다변량 선형회귀 (경사하강법)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35240" y="5394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/ 소요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35240" y="5650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 · 약 3~4시간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프로젝트 진행 6단계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정의·목표 설정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8316" y="3474720"/>
            <a:ext cx="118872" cy="0"/>
          </a:xfrm>
          <a:prstGeom prst="line">
            <a:avLst/>
          </a:prstGeom>
          <a:noFill/>
          <a:ln w="25400">
            <a:solidFill>
              <a:srgbClr val="9DC3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614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614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기상·사고 데이터 수집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7116" y="3474720"/>
            <a:ext cx="118872" cy="0"/>
          </a:xfrm>
          <a:prstGeom prst="line">
            <a:avLst/>
          </a:prstGeom>
          <a:noFill/>
          <a:ln w="25400">
            <a:solidFill>
              <a:srgbClr val="9DC3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0B3C5D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902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확인·전처리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5916" y="3474720"/>
            <a:ext cx="118872" cy="0"/>
          </a:xfrm>
          <a:prstGeom prst="line">
            <a:avLst/>
          </a:prstGeom>
          <a:noFill/>
          <a:ln w="25400">
            <a:solidFill>
              <a:srgbClr val="9DC3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190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학습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4716" y="3474720"/>
            <a:ext cx="118872" cy="0"/>
          </a:xfrm>
          <a:prstGeom prst="line">
            <a:avLst/>
          </a:prstGeom>
          <a:noFill/>
          <a:ln w="25400">
            <a:solidFill>
              <a:srgbClr val="9DC3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0B3C5D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2478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78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cost로 성능 확인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43516" y="3474720"/>
            <a:ext cx="118872" cy="0"/>
          </a:xfrm>
          <a:prstGeom prst="line">
            <a:avLst/>
          </a:prstGeom>
          <a:noFill/>
          <a:ln w="25400">
            <a:solidFill>
              <a:srgbClr val="9DC3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2377440"/>
            <a:ext cx="1700784" cy="2194560"/>
          </a:xfrm>
          <a:prstGeom prst="roundRect">
            <a:avLst>
              <a:gd name="adj" fmla="val 5376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41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D0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076688" y="31546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76688" y="40050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저장·서비스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단계는 앞 단계의 산출물을 입력으로 사용합니다. 순서대로 진행하며, 워크북의 코드를 그대로 따라 실행하세요.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PROBLEM SCOPING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문제를 정의합니다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 문제 캔버스로 프로젝트의 범위를 명확히 합니다.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8FA"/>
          </a:solidFill>
          <a:ln w="12700">
            <a:solidFill>
              <a:srgbClr val="9DC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16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3273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영향을 받는가?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운전자, 보행자, 교통안전 담당자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517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8FA"/>
          </a:solidFill>
          <a:ln w="12700">
            <a:solidFill>
              <a:srgbClr val="9DC3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816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3273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문제인가?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악천후일수록 사망사고 위험 증가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8FA"/>
          </a:solidFill>
          <a:ln w="12700">
            <a:solidFill>
              <a:srgbClr val="9DC3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489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9469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 발생하는가?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52395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서울시 도로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325112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8FA"/>
          </a:solidFill>
          <a:ln w="12700">
            <a:solidFill>
              <a:srgbClr val="9DC3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489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49469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해결해야 하는가?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52395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예측으로 운전 자제·주의 유도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분석 목표 정의서 · 프로젝트 헌장 · 분석 설계서 (워크북 Step 1 참고)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ACQUISITION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곳에서 데이터를 수집합니다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5400000">
              <a:srgbClr val="AAC4C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0B3C5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5212080" cy="3200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기상 데이터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data.kma.go.kr · 기상자료개방포털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2020/01/01~12/31, 지점: 서울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항목: 기온·강수량·풍속·습도·적설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후 CSV로 다운로드 (비회원 가능)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파일: OBS_ASOS_TIM_...csv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5400000">
              <a:srgbClr val="AAC4CF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288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0B3C5D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286000"/>
            <a:ext cx="5212080" cy="3200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교통사고 데이터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data.go.kr · 도로교통공단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29400" y="31089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“교통사고정보” 검색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교통사고 정보 CSV 선택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데이터 다운로드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파일: 도로교통공단_사망교통사고정보_2020.csv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주의: 두 CSV 모두 euc-kr 입니다 → read_csv(..., encoding='euc-kr')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3~4 · EXPLORATION &amp;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 정제하고 병합합니다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9DC3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6654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열만 선택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34840" y="1965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날씨: 일시·기온·강수량·풍속·습도·적설  /  사고: 발생년월일시·사망자수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2F8FA"/>
          </a:solidFill>
          <a:ln w="9525">
            <a:solidFill>
              <a:srgbClr val="9DC3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8950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89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788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형식 통일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34840" y="278892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데이터 모두 '년월일시'를 datetime, 시간(H) 단위로 맞춤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9DC3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71246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36118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시간별 집계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34840" y="361188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resample('H')로 시간대별 사망자수 합계 계산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43484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2F8FA"/>
          </a:solidFill>
          <a:ln w="9525">
            <a:solidFill>
              <a:srgbClr val="9DC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453542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35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44348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34840" y="443484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merge(how='outer') 후 fillna(0) 으로 빈 값 채우기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2578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9DC3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35838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53583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91640" y="525780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&amp; 저장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34840" y="525780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날씨+사고를 인덱스 기준 병합 → preparation_data.csv 저장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5~7 · MODELING → 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학습하고, 평가하고, 배포합니다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B3C5D"/>
            </a:solidFill>
            <a:prstDash val="solid"/>
          </a:ln>
          <a:effectLst>
            <a:outerShdw sx="100000" sy="100000" kx="0" ky="0" algn="bl" rotWithShape="0" blurRad="76200" dist="25400" dir="5400000">
              <a:srgbClr val="AAC4C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3429000" cy="3200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학습 (Learning)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x(5개 특성), y(사망자수)로 분리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 hypothesis = X·W + b 정의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cost = 예측값과 실제값의 오차 제곱 평균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경사하강법으로 100,000회 반복 학습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AAC4C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453128" y="2194560"/>
            <a:ext cx="34290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평가 (Evaluate)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중 500회마다 cost 출력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cost가 점차 감소하는지 확인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사망자 수 변화 관찰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29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B3C5D"/>
            </a:solidFill>
            <a:prstDash val="solid"/>
          </a:ln>
          <a:effectLst>
            <a:outerShdw sx="100000" sy="100000" kx="0" ky="0" algn="bl" rotWithShape="0" blurRad="76200" dist="25400" dir="5400000">
              <a:srgbClr val="AAC4CF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1828800"/>
            <a:ext cx="3429000" cy="68580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194560"/>
            <a:ext cx="3429000" cy="3200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82880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배포 (Deployment)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697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tf.train.Saver로 모델을 model.ckpt에 저장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그래프를 재구성하고 모델 복원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입력(기온·강수량 등)으로 실시간 예측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완료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항목을 모두 만족하면 프로젝트 완성입니다.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423160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기상·교통사고 CSV 2종을 정상적으로 불러왔다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423160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1031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데이터를 시간 기준으로 병합했다 (preparation_data.csv)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3730752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410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선형회귀 모델을 학습하고 cost 감소를 확인했다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41071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730752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410712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모델을 model.ckpt로 저장했다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7183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038344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718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입력값으로 예측 결과를 출력했다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471830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4C6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5038344"/>
            <a:ext cx="402336" cy="402336"/>
          </a:xfrm>
          <a:prstGeom prst="ellipse">
            <a:avLst/>
          </a:prstGeom>
          <a:solidFill>
            <a:srgbClr val="5FD0C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718304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해석하고 한계(음수 예측 등)를 설명할 수 있다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상세한 코드와 실행 결과는 『정답 워크북』을 그대로 따라 하세요.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DaeKyeong Kim, Ph.D.</dc:creator>
  <cp:lastModifiedBy>DaeKyeong Kim, Ph.D.</cp:lastModifiedBy>
  <cp:revision>1</cp:revision>
  <dcterms:created xsi:type="dcterms:W3CDTF">2026-07-07T09:22:33Z</dcterms:created>
  <dcterms:modified xsi:type="dcterms:W3CDTF">2026-07-07T09:22:33Z</dcterms:modified>
</cp:coreProperties>
</file>